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9" r:id="rId7"/>
    <p:sldId id="270" r:id="rId8"/>
    <p:sldId id="259" r:id="rId9"/>
    <p:sldId id="278" r:id="rId10"/>
    <p:sldId id="261" r:id="rId11"/>
    <p:sldId id="281" r:id="rId12"/>
    <p:sldId id="276" r:id="rId13"/>
    <p:sldId id="277" r:id="rId14"/>
    <p:sldId id="275" r:id="rId15"/>
    <p:sldId id="272" r:id="rId16"/>
    <p:sldId id="265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1CB2C-644D-2D49-4153-8ECC532BEFFE}" v="10" dt="2024-12-09T05:33:1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3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5A5E99-E976-4550-8F80-53CC813F2F5A}">
      <dgm:prSet phldrT="[Text]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/>
        <a:lstStyle/>
        <a:p>
          <a:r>
            <a:rPr lang="en-US"/>
            <a:t>Extract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/>
        <a:lstStyle/>
        <a:p>
          <a:endParaRPr lang="en-US"/>
        </a:p>
      </dgm:t>
    </dgm:pt>
    <dgm:pt modelId="{8877691F-1B60-4485-9174-DDEC7EE68B70}" type="sibTrans" cxnId="{D1A4D8E6-F04E-4AB1-8D0C-63DC7AB1E81F}">
      <dgm:prSet/>
      <dgm:spPr/>
      <dgm:t>
        <a:bodyPr/>
        <a:lstStyle/>
        <a:p>
          <a:endParaRPr lang="en-US"/>
        </a:p>
      </dgm:t>
    </dgm:pt>
    <dgm:pt modelId="{8EC937D8-BD76-4A12-A3E5-900D5C1E2E05}">
      <dgm:prSet phldrT="[Text]"/>
      <dgm:spPr/>
      <dgm:t>
        <a:bodyPr/>
        <a:lstStyle/>
        <a:p>
          <a:r>
            <a:rPr lang="en-US"/>
            <a:t>Transform</a:t>
          </a:r>
        </a:p>
      </dgm:t>
    </dgm:pt>
    <dgm:pt modelId="{8265EE85-9851-494E-A6D3-1CDACE947DF3}" type="parTrans" cxnId="{43DC8383-AEE5-490C-A8E5-1F216F2B8FE6}">
      <dgm:prSet/>
      <dgm:spPr/>
      <dgm:t>
        <a:bodyPr/>
        <a:lstStyle/>
        <a:p>
          <a:endParaRPr lang="en-US"/>
        </a:p>
      </dgm:t>
    </dgm:pt>
    <dgm:pt modelId="{B3EFD4A5-9FA1-4ABE-B722-05162509509B}" type="sibTrans" cxnId="{43DC8383-AEE5-490C-A8E5-1F216F2B8FE6}">
      <dgm:prSet/>
      <dgm:spPr/>
      <dgm:t>
        <a:bodyPr/>
        <a:lstStyle/>
        <a:p>
          <a:endParaRPr lang="en-US"/>
        </a:p>
      </dgm:t>
    </dgm:pt>
    <dgm:pt modelId="{7133ECF5-4190-4604-AA2F-03C9A0A9210F}">
      <dgm:prSet phldrT="[Text]"/>
      <dgm:spPr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</a:gradFill>
      </dgm:spPr>
      <dgm:t>
        <a:bodyPr/>
        <a:lstStyle/>
        <a:p>
          <a:r>
            <a:rPr lang="en-US"/>
            <a:t> Load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7D1B29D7-21DD-436A-8F7C-E87DE53C1431}" type="parTrans" cxnId="{011A9761-E983-4C7D-AB1D-2038261D8FF8}">
      <dgm:prSet/>
      <dgm:spPr/>
      <dgm:t>
        <a:bodyPr/>
        <a:lstStyle/>
        <a:p>
          <a:endParaRPr lang="en-US"/>
        </a:p>
      </dgm:t>
    </dgm:pt>
    <dgm:pt modelId="{46037378-034A-4662-877A-B53E1DA069A3}" type="sibTrans" cxnId="{011A9761-E983-4C7D-AB1D-2038261D8FF8}">
      <dgm:prSet/>
      <dgm:spPr/>
      <dgm:t>
        <a:bodyPr/>
        <a:lstStyle/>
        <a:p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124EF20B-D98C-45B2-BB13-7B93B5373CEB}" type="pres">
      <dgm:prSet presAssocID="{CD7942A0-B7D2-4B14-8FEA-55FC702F5BE7}" presName="ThreeNodes_1" presStyleLbl="node1" presStyleIdx="0" presStyleCnt="3">
        <dgm:presLayoutVars>
          <dgm:bulletEnabled val="1"/>
        </dgm:presLayoutVars>
      </dgm:prSet>
      <dgm:spPr/>
    </dgm:pt>
    <dgm:pt modelId="{CA544AF7-F7B2-4CA5-9251-B4CDB8D06634}" type="pres">
      <dgm:prSet presAssocID="{CD7942A0-B7D2-4B14-8FEA-55FC702F5BE7}" presName="ThreeNodes_2" presStyleLbl="node1" presStyleIdx="1" presStyleCnt="3">
        <dgm:presLayoutVars>
          <dgm:bulletEnabled val="1"/>
        </dgm:presLayoutVars>
      </dgm:prSet>
      <dgm:spPr/>
    </dgm:pt>
    <dgm:pt modelId="{2AE92D3F-F0FA-45DD-BB60-4C6FBC6BC016}" type="pres">
      <dgm:prSet presAssocID="{CD7942A0-B7D2-4B14-8FEA-55FC702F5BE7}" presName="ThreeNodes_3" presStyleLbl="node1" presStyleIdx="2" presStyleCnt="3">
        <dgm:presLayoutVars>
          <dgm:bulletEnabled val="1"/>
        </dgm:presLayoutVars>
      </dgm:prSet>
      <dgm:spPr/>
    </dgm:pt>
    <dgm:pt modelId="{9CA877D8-99F8-40A0-89E9-59A61C9A70F4}" type="pres">
      <dgm:prSet presAssocID="{CD7942A0-B7D2-4B14-8FEA-55FC702F5BE7}" presName="ThreeConn_1-2" presStyleLbl="fgAccFollowNode1" presStyleIdx="0" presStyleCnt="2">
        <dgm:presLayoutVars>
          <dgm:bulletEnabled val="1"/>
        </dgm:presLayoutVars>
      </dgm:prSet>
      <dgm:spPr/>
    </dgm:pt>
    <dgm:pt modelId="{62643EF2-016C-41F1-8CBC-398422A85727}" type="pres">
      <dgm:prSet presAssocID="{CD7942A0-B7D2-4B14-8FEA-55FC702F5BE7}" presName="ThreeConn_2-3" presStyleLbl="fgAccFollowNode1" presStyleIdx="1" presStyleCnt="2">
        <dgm:presLayoutVars>
          <dgm:bulletEnabled val="1"/>
        </dgm:presLayoutVars>
      </dgm:prSet>
      <dgm:spPr/>
    </dgm:pt>
    <dgm:pt modelId="{7A2F6994-DA87-4497-BFC7-DD9D6EC5315F}" type="pres">
      <dgm:prSet presAssocID="{CD7942A0-B7D2-4B14-8FEA-55FC702F5BE7}" presName="ThreeNodes_1_text" presStyleLbl="node1" presStyleIdx="2" presStyleCnt="3">
        <dgm:presLayoutVars>
          <dgm:bulletEnabled val="1"/>
        </dgm:presLayoutVars>
      </dgm:prSet>
      <dgm:spPr/>
    </dgm:pt>
    <dgm:pt modelId="{916C48CB-E452-4B79-A9B9-4C9A90B47960}" type="pres">
      <dgm:prSet presAssocID="{CD7942A0-B7D2-4B14-8FEA-55FC702F5BE7}" presName="ThreeNodes_2_text" presStyleLbl="node1" presStyleIdx="2" presStyleCnt="3">
        <dgm:presLayoutVars>
          <dgm:bulletEnabled val="1"/>
        </dgm:presLayoutVars>
      </dgm:prSet>
      <dgm:spPr/>
    </dgm:pt>
    <dgm:pt modelId="{A31D264E-E285-4E5C-8EB7-762CD501BE72}" type="pres">
      <dgm:prSet presAssocID="{CD7942A0-B7D2-4B14-8FEA-55FC702F5B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A89A138-BC1A-490F-935E-2EC3F74E8E18}" type="presOf" srcId="{7133ECF5-4190-4604-AA2F-03C9A0A9210F}" destId="{2AE92D3F-F0FA-45DD-BB60-4C6FBC6BC016}" srcOrd="0" destOrd="0" presId="urn:microsoft.com/office/officeart/2005/8/layout/vProcess5"/>
    <dgm:cxn modelId="{011A9761-E983-4C7D-AB1D-2038261D8FF8}" srcId="{CD7942A0-B7D2-4B14-8FEA-55FC702F5BE7}" destId="{7133ECF5-4190-4604-AA2F-03C9A0A9210F}" srcOrd="2" destOrd="0" parTransId="{7D1B29D7-21DD-436A-8F7C-E87DE53C1431}" sibTransId="{46037378-034A-4662-877A-B53E1DA069A3}"/>
    <dgm:cxn modelId="{8A063A46-8F8D-405A-B2D6-6495FA638F46}" type="presOf" srcId="{8EC937D8-BD76-4A12-A3E5-900D5C1E2E05}" destId="{CA544AF7-F7B2-4CA5-9251-B4CDB8D06634}" srcOrd="0" destOrd="0" presId="urn:microsoft.com/office/officeart/2005/8/layout/vProcess5"/>
    <dgm:cxn modelId="{A071614A-8A85-47B2-A113-0652CAB9B428}" type="presOf" srcId="{095A5E99-E976-4550-8F80-53CC813F2F5A}" destId="{124EF20B-D98C-45B2-BB13-7B93B5373CEB}" srcOrd="0" destOrd="0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03E7038C-2CC0-496B-88A0-60396CDC31E4}" type="presOf" srcId="{7133ECF5-4190-4604-AA2F-03C9A0A9210F}" destId="{A31D264E-E285-4E5C-8EB7-762CD501BE72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BB374C9D-646D-46E6-89B4-117F0E21BA34}" type="presOf" srcId="{8EC937D8-BD76-4A12-A3E5-900D5C1E2E05}" destId="{916C48CB-E452-4B79-A9B9-4C9A90B47960}" srcOrd="1" destOrd="0" presId="urn:microsoft.com/office/officeart/2005/8/layout/vProcess5"/>
    <dgm:cxn modelId="{12FC7FDE-4033-4970-A683-61DE6FA84E89}" type="presOf" srcId="{8877691F-1B60-4485-9174-DDEC7EE68B70}" destId="{9CA877D8-99F8-40A0-89E9-59A61C9A70F4}" srcOrd="0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7C007CEB-6418-4EA7-9CB6-5B93D0C655E6}" type="presOf" srcId="{095A5E99-E976-4550-8F80-53CC813F2F5A}" destId="{7A2F6994-DA87-4497-BFC7-DD9D6EC5315F}" srcOrd="1" destOrd="0" presId="urn:microsoft.com/office/officeart/2005/8/layout/vProcess5"/>
    <dgm:cxn modelId="{6CF7D6F9-A5F2-48E3-AF5C-A2074559AE21}" type="presOf" srcId="{B3EFD4A5-9FA1-4ABE-B722-05162509509B}" destId="{62643EF2-016C-41F1-8CBC-398422A85727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A8B17D3B-E670-4FE0-A845-244C702B8151}" type="presParOf" srcId="{1D84D8B6-AB32-4491-B5D2-EFE3D7668B88}" destId="{124EF20B-D98C-45B2-BB13-7B93B5373CEB}" srcOrd="1" destOrd="0" presId="urn:microsoft.com/office/officeart/2005/8/layout/vProcess5"/>
    <dgm:cxn modelId="{1E8E2D8B-A980-4080-A16E-1F74528DE4D0}" type="presParOf" srcId="{1D84D8B6-AB32-4491-B5D2-EFE3D7668B88}" destId="{CA544AF7-F7B2-4CA5-9251-B4CDB8D06634}" srcOrd="2" destOrd="0" presId="urn:microsoft.com/office/officeart/2005/8/layout/vProcess5"/>
    <dgm:cxn modelId="{7992440C-9F36-432D-90EE-E2A708CEB38B}" type="presParOf" srcId="{1D84D8B6-AB32-4491-B5D2-EFE3D7668B88}" destId="{2AE92D3F-F0FA-45DD-BB60-4C6FBC6BC016}" srcOrd="3" destOrd="0" presId="urn:microsoft.com/office/officeart/2005/8/layout/vProcess5"/>
    <dgm:cxn modelId="{DBE883B8-7D13-43BA-A456-8DBB93D30C93}" type="presParOf" srcId="{1D84D8B6-AB32-4491-B5D2-EFE3D7668B88}" destId="{9CA877D8-99F8-40A0-89E9-59A61C9A70F4}" srcOrd="4" destOrd="0" presId="urn:microsoft.com/office/officeart/2005/8/layout/vProcess5"/>
    <dgm:cxn modelId="{A3B9E6ED-FFD0-430E-B609-EBE8E75E7C44}" type="presParOf" srcId="{1D84D8B6-AB32-4491-B5D2-EFE3D7668B88}" destId="{62643EF2-016C-41F1-8CBC-398422A85727}" srcOrd="5" destOrd="0" presId="urn:microsoft.com/office/officeart/2005/8/layout/vProcess5"/>
    <dgm:cxn modelId="{278FE748-9C54-4E36-9203-E948DB63C99A}" type="presParOf" srcId="{1D84D8B6-AB32-4491-B5D2-EFE3D7668B88}" destId="{7A2F6994-DA87-4497-BFC7-DD9D6EC5315F}" srcOrd="6" destOrd="0" presId="urn:microsoft.com/office/officeart/2005/8/layout/vProcess5"/>
    <dgm:cxn modelId="{E81279B5-23BF-4F73-A353-8831FC04E9BC}" type="presParOf" srcId="{1D84D8B6-AB32-4491-B5D2-EFE3D7668B88}" destId="{916C48CB-E452-4B79-A9B9-4C9A90B47960}" srcOrd="7" destOrd="0" presId="urn:microsoft.com/office/officeart/2005/8/layout/vProcess5"/>
    <dgm:cxn modelId="{16289EC3-0C51-4B32-B6CC-FE8F7F6F6C76}" type="presParOf" srcId="{1D84D8B6-AB32-4491-B5D2-EFE3D7668B88}" destId="{A31D264E-E285-4E5C-8EB7-762CD501BE7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EF20B-D98C-45B2-BB13-7B93B5373CEB}">
      <dsp:nvSpPr>
        <dsp:cNvPr id="0" name=""/>
        <dsp:cNvSpPr/>
      </dsp:nvSpPr>
      <dsp:spPr>
        <a:xfrm>
          <a:off x="0" y="0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Extract</a:t>
          </a:r>
        </a:p>
      </dsp:txBody>
      <dsp:txXfrm>
        <a:off x="39238" y="39238"/>
        <a:ext cx="2871019" cy="1261215"/>
      </dsp:txXfrm>
    </dsp:sp>
    <dsp:sp modelId="{CA544AF7-F7B2-4CA5-9251-B4CDB8D06634}">
      <dsp:nvSpPr>
        <dsp:cNvPr id="0" name=""/>
        <dsp:cNvSpPr/>
      </dsp:nvSpPr>
      <dsp:spPr>
        <a:xfrm>
          <a:off x="380880" y="1562972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Transform</a:t>
          </a:r>
        </a:p>
      </dsp:txBody>
      <dsp:txXfrm>
        <a:off x="420118" y="1602210"/>
        <a:ext cx="2986494" cy="1261215"/>
      </dsp:txXfrm>
    </dsp:sp>
    <dsp:sp modelId="{2AE92D3F-F0FA-45DD-BB60-4C6FBC6BC016}">
      <dsp:nvSpPr>
        <dsp:cNvPr id="0" name=""/>
        <dsp:cNvSpPr/>
      </dsp:nvSpPr>
      <dsp:spPr>
        <a:xfrm>
          <a:off x="761761" y="3125945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 Load</a:t>
          </a:r>
        </a:p>
      </dsp:txBody>
      <dsp:txXfrm>
        <a:off x="800999" y="3165183"/>
        <a:ext cx="2986494" cy="1261215"/>
      </dsp:txXfrm>
    </dsp:sp>
    <dsp:sp modelId="{9CA877D8-99F8-40A0-89E9-59A61C9A70F4}">
      <dsp:nvSpPr>
        <dsp:cNvPr id="0" name=""/>
        <dsp:cNvSpPr/>
      </dsp:nvSpPr>
      <dsp:spPr>
        <a:xfrm>
          <a:off x="3445850" y="1015932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41780" y="1015932"/>
        <a:ext cx="478939" cy="655276"/>
      </dsp:txXfrm>
    </dsp:sp>
    <dsp:sp modelId="{62643EF2-016C-41F1-8CBC-398422A85727}">
      <dsp:nvSpPr>
        <dsp:cNvPr id="0" name=""/>
        <dsp:cNvSpPr/>
      </dsp:nvSpPr>
      <dsp:spPr>
        <a:xfrm>
          <a:off x="3826731" y="2569974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22661" y="2569974"/>
        <a:ext cx="478939" cy="65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12/8/2024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12/8/2024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Warehousing Final ETL Project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5" y="3657600"/>
            <a:ext cx="8735325" cy="1752600"/>
          </a:xfrm>
        </p:spPr>
        <p:txBody>
          <a:bodyPr/>
          <a:lstStyle/>
          <a:p>
            <a:r>
              <a:rPr lang="en-US" err="1"/>
              <a:t>Shohruz</a:t>
            </a:r>
            <a:r>
              <a:rPr lang="en-US"/>
              <a:t> </a:t>
            </a:r>
            <a:r>
              <a:rPr lang="en-US" err="1"/>
              <a:t>Junaidov</a:t>
            </a:r>
            <a:r>
              <a:rPr lang="en-US"/>
              <a:t>, Christian Keener, </a:t>
            </a:r>
            <a:r>
              <a:rPr lang="en-US" err="1"/>
              <a:t>Marzook</a:t>
            </a:r>
            <a:r>
              <a:rPr lang="en-US"/>
              <a:t> </a:t>
            </a:r>
            <a:r>
              <a:rPr lang="en-US" err="1"/>
              <a:t>mansoor</a:t>
            </a:r>
            <a:r>
              <a:rPr lang="en-US"/>
              <a:t>, </a:t>
            </a:r>
            <a:r>
              <a:rPr lang="en-US" err="1"/>
              <a:t>roshan</a:t>
            </a:r>
            <a:r>
              <a:rPr lang="en-US"/>
              <a:t> rai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FF1C2-3D7B-70E9-5E4F-B602E21CD206}"/>
              </a:ext>
            </a:extLst>
          </p:cNvPr>
          <p:cNvSpPr txBox="1"/>
          <p:nvPr/>
        </p:nvSpPr>
        <p:spPr>
          <a:xfrm>
            <a:off x="1625175" y="2677180"/>
            <a:ext cx="7441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Customer, Item, and Order Tables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2695C-D846-FF9C-97F2-7F4BFBEE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  <a:p>
            <a:r>
              <a:rPr lang="en-US"/>
              <a:t>ETL Plan and Workflows</a:t>
            </a:r>
          </a:p>
          <a:p>
            <a:r>
              <a:rPr lang="en-US"/>
              <a:t>Transformations</a:t>
            </a:r>
          </a:p>
          <a:p>
            <a:r>
              <a:rPr lang="en-US"/>
              <a:t>Delta Load</a:t>
            </a:r>
          </a:p>
          <a:p>
            <a:r>
              <a:rPr lang="en-US"/>
              <a:t>Test Results</a:t>
            </a:r>
          </a:p>
          <a:p>
            <a:r>
              <a:rPr lang="en-US"/>
              <a:t>Things We Learned</a:t>
            </a:r>
          </a:p>
          <a:p>
            <a:r>
              <a:rPr lang="en-US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8C347-5908-04DD-FA8D-BF5325D1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18367"/>
            <a:ext cx="10691722" cy="4453833"/>
          </a:xfrm>
        </p:spPr>
        <p:txBody>
          <a:bodyPr vert="horz" lIns="121899" tIns="60949" rIns="121899" bIns="60949" rtlCol="0" anchor="t">
            <a:normAutofit fontScale="92500" lnSpcReduction="20000"/>
          </a:bodyPr>
          <a:lstStyle/>
          <a:p>
            <a:pPr marL="304165" indent="-304165"/>
            <a:r>
              <a:rPr lang="en-US">
                <a:ea typeface="+mn-lt"/>
                <a:cs typeface="+mn-lt"/>
              </a:rPr>
              <a:t>The project focuses on managing and transforming data using both </a:t>
            </a:r>
            <a:r>
              <a:rPr lang="en-US" b="1">
                <a:ea typeface="+mn-lt"/>
                <a:cs typeface="+mn-lt"/>
              </a:rPr>
              <a:t>PgAdmin4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Pentaho Spoon</a:t>
            </a:r>
            <a:r>
              <a:rPr lang="en-US">
                <a:ea typeface="+mn-lt"/>
                <a:cs typeface="+mn-lt"/>
              </a:rPr>
              <a:t> in a structured ETL (Extract, Transform, Load) process. The aim was to facilitate seamless data migration from raw datasets into the core layer of a PostgreSQL database, ensuring that the data is appropriately cleaned, transformed, and stored for downstream analysis or reporting.</a:t>
            </a:r>
            <a:endParaRPr lang="en-US"/>
          </a:p>
          <a:p>
            <a:pPr marL="304165" indent="-304165"/>
            <a:r>
              <a:rPr lang="en-US">
                <a:ea typeface="+mn-lt"/>
                <a:cs typeface="+mn-lt"/>
              </a:rPr>
              <a:t>The task was divided into distinct phases:</a:t>
            </a:r>
            <a:endParaRPr lang="en-US"/>
          </a:p>
          <a:p>
            <a:pPr marL="304165" indent="-304165"/>
            <a:r>
              <a:rPr lang="en-US" b="1">
                <a:ea typeface="+mn-lt"/>
                <a:cs typeface="+mn-lt"/>
              </a:rPr>
              <a:t>Initial Data Acquisition and Schema Setup</a:t>
            </a:r>
            <a:r>
              <a:rPr lang="en-US">
                <a:ea typeface="+mn-lt"/>
                <a:cs typeface="+mn-lt"/>
              </a:rPr>
              <a:t>: Using PgAdmin4 to create tables in the </a:t>
            </a:r>
            <a:r>
              <a:rPr lang="en-US">
                <a:latin typeface="Consolas"/>
              </a:rPr>
              <a:t>public</a:t>
            </a:r>
            <a:r>
              <a:rPr lang="en-US">
                <a:ea typeface="+mn-lt"/>
                <a:cs typeface="+mn-lt"/>
              </a:rPr>
              <a:t> schema and migrate raw data into the database.</a:t>
            </a:r>
            <a:endParaRPr lang="en-US"/>
          </a:p>
          <a:p>
            <a:pPr marL="304165" indent="-304165"/>
            <a:r>
              <a:rPr lang="en-US" b="1">
                <a:ea typeface="+mn-lt"/>
                <a:cs typeface="+mn-lt"/>
              </a:rPr>
              <a:t>Transformation and Data Loading</a:t>
            </a:r>
            <a:r>
              <a:rPr lang="en-US">
                <a:ea typeface="+mn-lt"/>
                <a:cs typeface="+mn-lt"/>
              </a:rPr>
              <a:t>: Utilizing Pentaho Spoon to transform the data and load it into the </a:t>
            </a:r>
            <a:r>
              <a:rPr lang="en-US">
                <a:latin typeface="Consolas"/>
              </a:rPr>
              <a:t>core</a:t>
            </a:r>
            <a:r>
              <a:rPr lang="en-US">
                <a:ea typeface="+mn-lt"/>
                <a:cs typeface="+mn-lt"/>
              </a:rPr>
              <a:t> schema, ensuring that the data structure aligns with business requirements.</a:t>
            </a:r>
            <a:endParaRPr lang="en-US"/>
          </a:p>
          <a:p>
            <a:pPr marL="304165" indent="-304165"/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F74CB-9730-18CF-D4CD-89BDA60C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121899" tIns="60949" rIns="121899" bIns="60949" rtlCol="0" anchor="t">
            <a:normAutofit/>
          </a:bodyPr>
          <a:lstStyle/>
          <a:p>
            <a:pPr marL="304165" indent="-304165"/>
            <a:r>
              <a:rPr lang="en-US">
                <a:ea typeface="+mn-lt"/>
                <a:cs typeface="+mn-lt"/>
              </a:rPr>
              <a:t>Data extracted from CSV files into the public schema.</a:t>
            </a:r>
          </a:p>
          <a:p>
            <a:pPr marL="304165" indent="-304165"/>
            <a:r>
              <a:rPr lang="en-US">
                <a:ea typeface="+mn-lt"/>
                <a:cs typeface="+mn-lt"/>
              </a:rPr>
              <a:t>Data temporarily stored in the staging schema.</a:t>
            </a:r>
            <a:endParaRPr lang="en-US"/>
          </a:p>
          <a:p>
            <a:pPr marL="304165" indent="-304165"/>
            <a:r>
              <a:rPr lang="en-US">
                <a:ea typeface="+mn-lt"/>
                <a:cs typeface="+mn-lt"/>
              </a:rPr>
              <a:t>Transformed data then loaded into the core schema.</a:t>
            </a:r>
            <a:endParaRPr lang="en-US">
              <a:ea typeface="Calibri"/>
              <a:cs typeface="Calibri"/>
            </a:endParaRPr>
          </a:p>
          <a:p>
            <a:pPr marL="304165" indent="-304165"/>
            <a:endParaRPr lang="en-US">
              <a:ea typeface="Calibri"/>
              <a:cs typeface="Calibri"/>
            </a:endParaRPr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2515758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B470F22-6A9D-8D63-C2A2-53C2F80E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Customer, item, and 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74539D-31EC-49E5-DAA5-5C5501B6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A8E5-8AAD-47AE-605C-2DB6BFF6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84A918-C280-CEB7-6AB4-D2DE9D5A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111" y="-152400"/>
            <a:ext cx="10360501" cy="1223963"/>
          </a:xfrm>
        </p:spPr>
        <p:txBody>
          <a:bodyPr/>
          <a:lstStyle/>
          <a:p>
            <a:r>
              <a:rPr lang="en-US"/>
              <a:t>CUSTOMER TABLE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4C1B75-C43A-3F07-A956-E3CAC9433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07272" y="609600"/>
            <a:ext cx="5082740" cy="914400"/>
          </a:xfrm>
        </p:spPr>
        <p:txBody>
          <a:bodyPr/>
          <a:lstStyle/>
          <a:p>
            <a:r>
              <a:rPr lang="en-US"/>
              <a:t>Workflow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DD239F-FA42-C26A-BDC0-926DDC3D1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82735" y="1727200"/>
            <a:ext cx="5078677" cy="3454400"/>
          </a:xfrm>
        </p:spPr>
        <p:txBody>
          <a:bodyPr vert="horz" lIns="121899" tIns="60949" rIns="121899" bIns="60949" rtlCol="0" anchor="t">
            <a:noAutofit/>
          </a:bodyPr>
          <a:lstStyle/>
          <a:p>
            <a:pPr marL="304165" indent="-304165"/>
            <a:r>
              <a:rPr lang="en-US" dirty="0"/>
              <a:t>Import Customer</a:t>
            </a:r>
          </a:p>
          <a:p>
            <a:pPr marL="304165" indent="-304165"/>
            <a:r>
              <a:rPr lang="en-US" dirty="0"/>
              <a:t>Transform Customer</a:t>
            </a:r>
            <a:endParaRPr lang="en-US">
              <a:ea typeface="Calibri"/>
              <a:cs typeface="Calibri"/>
            </a:endParaRPr>
          </a:p>
          <a:p>
            <a:pPr marL="304165" indent="-304165"/>
            <a:r>
              <a:rPr lang="en-US" dirty="0"/>
              <a:t>Staging Customer</a:t>
            </a:r>
            <a:endParaRPr lang="en-US">
              <a:ea typeface="Calibri"/>
              <a:cs typeface="Calibri"/>
            </a:endParaRPr>
          </a:p>
          <a:p>
            <a:pPr marL="304165" indent="-304165"/>
            <a:r>
              <a:rPr lang="en-US" err="1"/>
              <a:t>SetLastLoadCustomer</a:t>
            </a:r>
            <a:endParaRPr lang="en-US">
              <a:ea typeface="Calibri"/>
              <a:cs typeface="Calibri"/>
            </a:endParaRPr>
          </a:p>
          <a:p>
            <a:pPr marL="304165" indent="-304165"/>
            <a:r>
              <a:rPr lang="en-US" err="1"/>
              <a:t>GetLastLoadCustomer</a:t>
            </a:r>
            <a:endParaRPr lang="en-US">
              <a:ea typeface="Calibri"/>
              <a:cs typeface="Calibri"/>
            </a:endParaRPr>
          </a:p>
          <a:p>
            <a:pPr marL="304165" indent="-304165"/>
            <a:r>
              <a:rPr lang="en-US" dirty="0"/>
              <a:t>Check Core for data load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6DF46-3BBF-360C-A43C-7D566AC3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3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89012" y="182602"/>
            <a:ext cx="10360501" cy="1223963"/>
          </a:xfrm>
        </p:spPr>
        <p:txBody>
          <a:bodyPr/>
          <a:lstStyle/>
          <a:p>
            <a:r>
              <a:rPr lang="en-US"/>
              <a:t>CUSTOMER TABLE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773672" y="1089066"/>
            <a:ext cx="5082740" cy="914400"/>
          </a:xfrm>
        </p:spPr>
        <p:txBody>
          <a:bodyPr/>
          <a:lstStyle/>
          <a:p>
            <a:r>
              <a:rPr lang="en-US"/>
              <a:t>Public Schema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3BDCAAB-B4F6-5666-95DC-2AD37D6C02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5212" y="2667128"/>
            <a:ext cx="6868556" cy="3479800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932612" y="1613027"/>
            <a:ext cx="5082740" cy="914400"/>
          </a:xfrm>
        </p:spPr>
        <p:txBody>
          <a:bodyPr/>
          <a:lstStyle/>
          <a:p>
            <a:r>
              <a:rPr lang="en-US"/>
              <a:t>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A8AD86-B7E6-4ED1-6E04-F9666407DC7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777782" y="1981200"/>
            <a:ext cx="2971800" cy="416572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D8DE79-4899-7636-8309-CB6AA4BC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BA42-5943-D70F-9B37-AC482FB1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311" y="0"/>
            <a:ext cx="10360501" cy="611315"/>
          </a:xfrm>
        </p:spPr>
        <p:txBody>
          <a:bodyPr>
            <a:normAutofit fontScale="90000"/>
          </a:bodyPr>
          <a:lstStyle/>
          <a:p>
            <a:r>
              <a:rPr lang="en-US"/>
              <a:t>WORKFLOW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B0815CD1-AE00-16F2-E599-530A7A6819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74812" y="762000"/>
            <a:ext cx="8760569" cy="1934941"/>
          </a:xfrm>
        </p:spPr>
      </p:pic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6D868072-D838-A241-DDFF-C764092A69E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2132012" y="3206084"/>
            <a:ext cx="7837261" cy="1318154"/>
          </a:xfr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F26A730F-79A2-8A80-1F85-517FD1E8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412" y="5068876"/>
            <a:ext cx="4462931" cy="1408124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3A7618AC-7B63-7904-EAA9-009A4204F08D}"/>
              </a:ext>
            </a:extLst>
          </p:cNvPr>
          <p:cNvSpPr/>
          <p:nvPr/>
        </p:nvSpPr>
        <p:spPr>
          <a:xfrm>
            <a:off x="5790961" y="2746683"/>
            <a:ext cx="457200" cy="3865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4ADC030-8606-4198-7D87-A938C856513D}"/>
              </a:ext>
            </a:extLst>
          </p:cNvPr>
          <p:cNvSpPr/>
          <p:nvPr/>
        </p:nvSpPr>
        <p:spPr>
          <a:xfrm>
            <a:off x="5822042" y="4581251"/>
            <a:ext cx="457200" cy="3865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671E5B-3392-53CE-C299-12FDED33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6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F304-AAEA-447E-9129-82823834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31A617-9CB5-8186-1743-5BA863F9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RESULTS &amp; OBSERVATIONS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D6767-1565-165A-2817-7A0856F7E9B4}"/>
              </a:ext>
            </a:extLst>
          </p:cNvPr>
          <p:cNvSpPr txBox="1"/>
          <p:nvPr/>
        </p:nvSpPr>
        <p:spPr>
          <a:xfrm>
            <a:off x="1342808" y="1706867"/>
            <a:ext cx="9785295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Item names must be unique, as they serve as a key identifier during the order transformation process.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Data must be clean and free of duplicates.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The correct insertion order is: customer, followed by order, then item.</a:t>
            </a:r>
            <a:endParaRPr lang="en-US"/>
          </a:p>
          <a:p>
            <a:pPr marL="457200" indent="-45720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C2EAB-B5CF-247F-BA1E-37C8006B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6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1E6-3BA0-34A9-7CB1-4AF2591B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D37303-4856-3802-166B-8EABEBA0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Learned Throughout the Course: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F8CCD-20D9-C9DB-38B8-CBF6EB09323E}"/>
              </a:ext>
            </a:extLst>
          </p:cNvPr>
          <p:cNvSpPr txBox="1"/>
          <p:nvPr/>
        </p:nvSpPr>
        <p:spPr>
          <a:xfrm>
            <a:off x="1218883" y="1905000"/>
            <a:ext cx="8534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/>
              <a:t>ETL and ELT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/>
              <a:t>ETL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/>
              <a:t>Data modeling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/>
              <a:t>Data warehousing principles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/>
              <a:t>Fact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12C21-CF12-CB8E-6B44-C102FD5F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6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B3A1-05AF-D0AA-29AA-73A3C912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783C89-8F92-A2EB-9310-484871F5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0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/>
              <a:t>DELTA LOAD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8A30A88C-8C12-89E0-9603-E4153688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1371600"/>
            <a:ext cx="7627818" cy="446227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9B8AF-9DA4-8AEA-54EE-0325F842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2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CADF-68F5-9F47-52AA-84059591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F95934-C4AC-8631-7845-CB8FF183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412" y="2332037"/>
            <a:ext cx="7390129" cy="1325563"/>
          </a:xfrm>
        </p:spPr>
        <p:txBody>
          <a:bodyPr>
            <a:normAutofit/>
          </a:bodyPr>
          <a:lstStyle/>
          <a:p>
            <a:r>
              <a:rPr lang="en-US" sz="6000"/>
              <a:t>LIVE DEMONSTRATION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6443DE-EB18-1DE7-6EEC-B29A4AB1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4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Thank you so much! Any questions?</a:t>
            </a:r>
          </a:p>
        </p:txBody>
      </p:sp>
      <p:pic>
        <p:nvPicPr>
          <p:cNvPr id="1026" name="Picture 2" descr="What is a Data Warehouse? | Data Basecamp">
            <a:extLst>
              <a:ext uri="{FF2B5EF4-FFF2-40B4-BE49-F238E27FC236}">
                <a16:creationId xmlns:a16="http://schemas.microsoft.com/office/drawing/2014/main" id="{96DFFFA2-D2DA-DE63-09FD-F85C4B0E4DA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7" r="1223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B71988-2562-8D3B-FD5E-3ECE2645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a8588e-5287-44f8-bec9-0641aa3548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3F610CFF6CE84498C3A1C647CCB812" ma:contentTypeVersion="17" ma:contentTypeDescription="Create a new document." ma:contentTypeScope="" ma:versionID="b1265fc0772af1040da62f7b4e1dcddb">
  <xsd:schema xmlns:xsd="http://www.w3.org/2001/XMLSchema" xmlns:xs="http://www.w3.org/2001/XMLSchema" xmlns:p="http://schemas.microsoft.com/office/2006/metadata/properties" xmlns:ns3="31a8588e-5287-44f8-bec9-0641aa3548e7" xmlns:ns4="5a8e2733-8df3-456c-812d-37bbb32aca28" targetNamespace="http://schemas.microsoft.com/office/2006/metadata/properties" ma:root="true" ma:fieldsID="4332a3995a3eeb0d7155b0fa11814b42" ns3:_="" ns4:_="">
    <xsd:import namespace="31a8588e-5287-44f8-bec9-0641aa3548e7"/>
    <xsd:import namespace="5a8e2733-8df3-456c-812d-37bbb32ac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8588e-5287-44f8-bec9-0641aa3548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e2733-8df3-456c-812d-37bbb32aca2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31a8588e-5287-44f8-bec9-0641aa3548e7"/>
    <ds:schemaRef ds:uri="5a8e2733-8df3-456c-812d-37bbb32aca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1F5588-8149-44F1-A2CC-DA3BFB3359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CC0365-D19A-4CDE-9363-7DB96E85C815}">
  <ds:schemaRefs>
    <ds:schemaRef ds:uri="31a8588e-5287-44f8-bec9-0641aa3548e7"/>
    <ds:schemaRef ds:uri="5a8e2733-8df3-456c-812d-37bbb32aca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Application>Microsoft Office PowerPoint</Application>
  <PresentationFormat>Custom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Tech 16x9</vt:lpstr>
      <vt:lpstr>Data Warehousing Final ETL Project</vt:lpstr>
      <vt:lpstr>Agenda</vt:lpstr>
      <vt:lpstr>Project Overview</vt:lpstr>
      <vt:lpstr>ETL Plan</vt:lpstr>
      <vt:lpstr>Transformation Plan</vt:lpstr>
      <vt:lpstr>CUSTOMER TABLE</vt:lpstr>
      <vt:lpstr>CUSTOMER TABLE</vt:lpstr>
      <vt:lpstr>WORKFLOW</vt:lpstr>
      <vt:lpstr>TEST RESULTS &amp; OBSERVATIONS</vt:lpstr>
      <vt:lpstr>What We Learned Throughout the Course:</vt:lpstr>
      <vt:lpstr>DELTA LOAD</vt:lpstr>
      <vt:lpstr>LIVE DEMONSTRATION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Keener, Christian S.</dc:creator>
  <cp:revision>6</cp:revision>
  <dcterms:created xsi:type="dcterms:W3CDTF">2024-12-05T01:40:06Z</dcterms:created>
  <dcterms:modified xsi:type="dcterms:W3CDTF">2024-12-09T05:33:28Z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0x0101008D3F610CFF6CE84498C3A1C647CCB812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